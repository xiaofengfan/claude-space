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1228"/>
              </a:gs>
              <a:gs pos="100000">
                <a:srgbClr val="080C16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4206240"/>
            <a:ext cx="6400800" cy="2926080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0E0E14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-1097280"/>
            <a:ext cx="5943600" cy="3840480"/>
          </a:xfrm>
          <a:prstGeom prst="rect">
            <a:avLst/>
          </a:prstGeom>
          <a:gradFill rotWithShape="1">
            <a:gsLst>
              <a:gs pos="0">
                <a:srgbClr val="4E8DF3"/>
              </a:gs>
              <a:gs pos="100000">
                <a:srgbClr val="0E0E14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1143000"/>
            <a:ext cx="1280160" cy="1280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697480"/>
            <a:ext cx="107259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 i="0">
                <a:solidFill>
                  <a:srgbClr val="F1F1F6"/>
                </a:solidFill>
                <a:latin typeface="Segoe UI"/>
              </a:rPr>
              <a:t>Claude 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3703320"/>
            <a:ext cx="1828800" cy="38100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725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A6A6B8"/>
                </a:solidFill>
                <a:latin typeface="Microsoft YaHei"/>
              </a:rPr>
              <a:t>AI 驱动的项目开发工作台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0725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 i="0">
                <a:solidFill>
                  <a:srgbClr val="22D3EE"/>
                </a:solidFill>
                <a:latin typeface="Microsoft YaHei"/>
              </a:rPr>
              <a:t>多模型  ·  多智能体  ·  多工作空间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3248" y="53492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C1C28"/>
          </a:solidFill>
          <a:ln w="9525">
            <a:solidFill>
              <a:srgbClr val="7C6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539496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1F1F6"/>
                </a:solidFill>
                <a:latin typeface="Segoe UI"/>
              </a:rPr>
              <a:t>v1.1.7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72200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C6C7E"/>
                </a:solidFill>
                <a:latin typeface="Microsoft YaHei"/>
              </a:rPr>
              <a:t>将 Claude Code CLI 升级为图形化多智能体协作平台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09728" cy="841248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1F6"/>
                </a:solidFill>
                <a:latin typeface="Microsoft YaHei"/>
              </a:rPr>
              <a:t>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6A6B8"/>
                </a:solidFill>
                <a:latin typeface="Microsoft YaHei"/>
              </a:rPr>
              <a:t>从一个聊天窗口，进化为 AI 指挥中心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5486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C6C7E"/>
                </a:solidFill>
                <a:latin typeface="Segoe UI"/>
              </a:rPr>
              <a:t>Claude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4415" cy="9525"/>
          </a:xfrm>
          <a:prstGeom prst="rect">
            <a:avLst/>
          </a:prstGeom>
          <a:solidFill>
            <a:srgbClr val="2C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05060"/>
                </a:solidFill>
                <a:latin typeface="Microsoft YaHei"/>
              </a:rPr>
              <a:t>Claude Space  ·  AI 驱动的项目开发工作台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05060"/>
                </a:solidFill>
                <a:latin typeface="Segoe UI"/>
              </a:rPr>
              <a:t>02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291840" cy="173736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291840" cy="73152"/>
          </a:xfrm>
          <a:prstGeom prst="rect">
            <a:avLst/>
          </a:prstGeom>
          <a:solidFill>
            <a:srgbClr val="4E8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1F1F6"/>
                </a:solidFill>
                <a:latin typeface="Segoe UI"/>
              </a:rPr>
              <a:t>AI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4E8DF3"/>
                </a:solidFill>
                <a:latin typeface="Microsoft YaHei"/>
              </a:rPr>
              <a:t>问答式助手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6A6B8"/>
                </a:solidFill>
                <a:latin typeface="Microsoft YaHei"/>
              </a:rPr>
              <a:t>单轮对话 · 文本输出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46888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6C6C7E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828800"/>
            <a:ext cx="3291840" cy="173736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828800"/>
            <a:ext cx="3291840" cy="73152"/>
          </a:xfrm>
          <a:prstGeom prst="rect">
            <a:avLst/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1488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1F1F6"/>
                </a:solidFill>
                <a:latin typeface="Segoe UI"/>
              </a:rPr>
              <a:t>Claude Code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697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7C6CF0"/>
                </a:solidFill>
                <a:latin typeface="Microsoft YaHei"/>
              </a:rPr>
              <a:t>终端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1089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6A6B8"/>
                </a:solidFill>
                <a:latin typeface="Microsoft YaHei"/>
              </a:rPr>
              <a:t>命令行 · 单智能体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246888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6C6C7E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828800"/>
            <a:ext cx="3291840" cy="173736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1828800"/>
            <a:ext cx="329184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1488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1F1F6"/>
                </a:solidFill>
                <a:latin typeface="Segoe UI"/>
              </a:rPr>
              <a:t>Claude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697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2D3EE"/>
                </a:solidFill>
                <a:latin typeface="Microsoft YaHei"/>
              </a:rPr>
              <a:t>AI 工作站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1089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6A6B8"/>
                </a:solidFill>
                <a:latin typeface="Microsoft YaHei"/>
              </a:rPr>
              <a:t>图形化 · 多智能体协作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77639"/>
            <a:ext cx="5358384" cy="201168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78807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46EB4"/>
                </a:solidFill>
                <a:latin typeface="Microsoft YaHei"/>
              </a:rPr>
              <a:t>传统方式局限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636007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250" b="1">
                <a:solidFill>
                  <a:srgbClr val="F46EB4"/>
                </a:solidFill>
                <a:latin typeface="Microsoft YaHei"/>
              </a:rPr>
              <a:t>✗  </a:t>
            </a:r>
            <a:r>
              <a:rPr sz="1250">
                <a:solidFill>
                  <a:srgbClr val="A6A6B8"/>
                </a:solidFill>
                <a:latin typeface="Microsoft YaHei"/>
              </a:rPr>
              <a:t>单轮问答，难以追踪长任务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250" b="1">
                <a:solidFill>
                  <a:srgbClr val="F46EB4"/>
                </a:solidFill>
                <a:latin typeface="Microsoft YaHei"/>
              </a:rPr>
              <a:t>✗  </a:t>
            </a:r>
            <a:r>
              <a:rPr sz="1250">
                <a:solidFill>
                  <a:srgbClr val="A6A6B8"/>
                </a:solidFill>
                <a:latin typeface="Microsoft YaHei"/>
              </a:rPr>
              <a:t>纯文本输出，工具调用不可视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250" b="1">
                <a:solidFill>
                  <a:srgbClr val="F46EB4"/>
                </a:solidFill>
                <a:latin typeface="Microsoft YaHei"/>
              </a:rPr>
              <a:t>✗  </a:t>
            </a:r>
            <a:r>
              <a:rPr sz="1250">
                <a:solidFill>
                  <a:srgbClr val="A6A6B8"/>
                </a:solidFill>
                <a:latin typeface="Microsoft YaHei"/>
              </a:rPr>
              <a:t>单智能体，无法团队协作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250" b="1">
                <a:solidFill>
                  <a:srgbClr val="F46EB4"/>
                </a:solidFill>
                <a:latin typeface="Microsoft YaHei"/>
              </a:rPr>
              <a:t>✗  </a:t>
            </a:r>
            <a:r>
              <a:rPr sz="1250">
                <a:solidFill>
                  <a:srgbClr val="A6A6B8"/>
                </a:solidFill>
                <a:latin typeface="Microsoft YaHei"/>
              </a:rPr>
              <a:t>缺乏审批，敏感操作不可控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8" y="3977639"/>
            <a:ext cx="5358384" cy="2011680"/>
          </a:xfrm>
          <a:prstGeom prst="roundRect">
            <a:avLst>
              <a:gd name="adj" fmla="val 5000"/>
            </a:avLst>
          </a:prstGeom>
          <a:solidFill>
            <a:srgbClr val="232332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4178807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Microsoft YaHei"/>
              </a:rPr>
              <a:t>Claude Space 优势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4636007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250" b="1">
                <a:solidFill>
                  <a:srgbClr val="34D999"/>
                </a:solidFill>
                <a:latin typeface="Microsoft YaHei"/>
              </a:rPr>
              <a:t>✓  </a:t>
            </a:r>
            <a:r>
              <a:rPr sz="1250">
                <a:solidFill>
                  <a:srgbClr val="F1F1F6"/>
                </a:solidFill>
                <a:latin typeface="Microsoft YaHei"/>
              </a:rPr>
              <a:t>多模型接入，多 Tab 会话并行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250" b="1">
                <a:solidFill>
                  <a:srgbClr val="34D999"/>
                </a:solidFill>
                <a:latin typeface="Microsoft YaHei"/>
              </a:rPr>
              <a:t>✓  </a:t>
            </a:r>
            <a:r>
              <a:rPr sz="1250">
                <a:solidFill>
                  <a:srgbClr val="F1F1F6"/>
                </a:solidFill>
                <a:latin typeface="Microsoft YaHei"/>
              </a:rPr>
              <a:t>图形化任务看板，实时监控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250" b="1">
                <a:solidFill>
                  <a:srgbClr val="34D999"/>
                </a:solidFill>
                <a:latin typeface="Microsoft YaHei"/>
              </a:rPr>
              <a:t>✓  </a:t>
            </a:r>
            <a:r>
              <a:rPr sz="1250">
                <a:solidFill>
                  <a:srgbClr val="F1F1F6"/>
                </a:solidFill>
                <a:latin typeface="Microsoft YaHei"/>
              </a:rPr>
              <a:t>9人虚拟团队，@mention 协作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250" b="1">
                <a:solidFill>
                  <a:srgbClr val="34D999"/>
                </a:solidFill>
                <a:latin typeface="Microsoft YaHei"/>
              </a:rPr>
              <a:t>✓  </a:t>
            </a:r>
            <a:r>
              <a:rPr sz="1250">
                <a:solidFill>
                  <a:srgbClr val="F1F1F6"/>
                </a:solidFill>
                <a:latin typeface="Microsoft YaHei"/>
              </a:rPr>
              <a:t>敏感操作审批，全流程可追溯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09728" cy="841248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1F6"/>
                </a:solidFill>
                <a:latin typeface="Microsoft YaHei"/>
              </a:rPr>
              <a:t>核心能力概览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6A6B8"/>
                </a:solidFill>
                <a:latin typeface="Microsoft YaHei"/>
              </a:rPr>
              <a:t>八大模块，构建完整的 AI 开发工作流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5486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C6C7E"/>
                </a:solidFill>
                <a:latin typeface="Segoe UI"/>
              </a:rPr>
              <a:t>Claude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4415" cy="9525"/>
          </a:xfrm>
          <a:prstGeom prst="rect">
            <a:avLst/>
          </a:prstGeom>
          <a:solidFill>
            <a:srgbClr val="2C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05060"/>
                </a:solidFill>
                <a:latin typeface="Microsoft YaHei"/>
              </a:rPr>
              <a:t>Claude Space  ·  AI 驱动的项目开发工作台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05060"/>
                </a:solidFill>
                <a:latin typeface="Segoe UI"/>
              </a:rPr>
              <a:t>03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819656"/>
            <a:ext cx="64008" cy="1892808"/>
          </a:xfrm>
          <a:prstGeom prst="roundRect">
            <a:avLst>
              <a:gd name="adj" fmla="val 50000"/>
            </a:avLst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745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多模型 AI 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95144"/>
            <a:ext cx="2240280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Claude / DeepSeek / OpenAI / 自定义，流式渲染与多 Tab 会话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691640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46704" y="1819656"/>
            <a:ext cx="64008" cy="1892808"/>
          </a:xfrm>
          <a:prstGeom prst="roundRect">
            <a:avLst>
              <a:gd name="adj" fmla="val 50000"/>
            </a:avLst>
          </a:prstGeom>
          <a:solidFill>
            <a:srgbClr val="4E8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8745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多智能体协作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295144"/>
            <a:ext cx="2240280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9人虚拟团队，5种角色原型，队列并发调度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691640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1819656"/>
            <a:ext cx="64008" cy="18928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745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项目管理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95144"/>
            <a:ext cx="2240280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自动扫描、多工作空间、递归文件树与代码编辑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1691640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42832" y="1819656"/>
            <a:ext cx="64008" cy="1892808"/>
          </a:xfrm>
          <a:prstGeom prst="roundRect">
            <a:avLst>
              <a:gd name="adj" fmla="val 50000"/>
            </a:avLst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8864" y="18745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集成终端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2295144"/>
            <a:ext cx="2240280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node-pty + xterm.js 本地终端，WebGL 加速渲染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41648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4169664"/>
            <a:ext cx="64008" cy="1892808"/>
          </a:xfrm>
          <a:prstGeom prst="roundRect">
            <a:avLst>
              <a:gd name="adj" fmla="val 50000"/>
            </a:avLst>
          </a:prstGeom>
          <a:solidFill>
            <a:srgbClr val="F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2245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任务看板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645152"/>
            <a:ext cx="2240280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三列看板、AI 自动提取任务、实时监控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46704" y="4041648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46704" y="4169664"/>
            <a:ext cx="64008" cy="1892808"/>
          </a:xfrm>
          <a:prstGeom prst="roundRect">
            <a:avLst>
              <a:gd name="adj" fmla="val 50000"/>
            </a:avLst>
          </a:prstGeom>
          <a:solidFill>
            <a:srgbClr val="F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2736" y="42245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Git 集成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2736" y="4645152"/>
            <a:ext cx="2240280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状态/差异/提交/分支，可视化的版本控制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4041648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44768" y="4169664"/>
            <a:ext cx="64008" cy="1892808"/>
          </a:xfrm>
          <a:prstGeom prst="roundRect">
            <a:avLst>
              <a:gd name="adj" fmla="val 50000"/>
            </a:avLst>
          </a:prstGeom>
          <a:solidFill>
            <a:srgbClr val="82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2245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SSH 远程开发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645152"/>
            <a:ext cx="2240280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远程终端、SFTP 浏览、一键部署上线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42832" y="4041648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42832" y="4169664"/>
            <a:ext cx="64008" cy="1892808"/>
          </a:xfrm>
          <a:prstGeom prst="roundRect">
            <a:avLst>
              <a:gd name="adj" fmla="val 50000"/>
            </a:avLst>
          </a:prstGeom>
          <a:solidFill>
            <a:srgbClr val="FDD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8864" y="42245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记忆与知识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8864" y="4645152"/>
            <a:ext cx="2240280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项目隔离记忆、知识库 CRUD、规则模板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09728" cy="841248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1F6"/>
                </a:solidFill>
                <a:latin typeface="Microsoft YaHei"/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6A6B8"/>
                </a:solidFill>
                <a:latin typeface="Microsoft YaHei"/>
              </a:rPr>
              <a:t>Electron 主进程 + React 渲染进程，安全隔离通信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5486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C6C7E"/>
                </a:solidFill>
                <a:latin typeface="Segoe UI"/>
              </a:rPr>
              <a:t>Claude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4415" cy="9525"/>
          </a:xfrm>
          <a:prstGeom prst="rect">
            <a:avLst/>
          </a:prstGeom>
          <a:solidFill>
            <a:srgbClr val="2C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05060"/>
                </a:solidFill>
                <a:latin typeface="Microsoft YaHei"/>
              </a:rPr>
              <a:t>Claude Space  ·  AI 驱动的项目开发工作台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05060"/>
                </a:solidFill>
                <a:latin typeface="Segoe UI"/>
              </a:rPr>
              <a:t>04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657600" cy="457200"/>
          </a:xfrm>
          <a:prstGeom prst="rect">
            <a:avLst/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1F1F6"/>
                </a:solidFill>
                <a:latin typeface="Microsoft YaHei"/>
              </a:rPr>
              <a:t>主进程 · Main (Node.js)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D3EE"/>
                </a:solidFill>
                <a:latin typeface="Segoe UI"/>
              </a:rPr>
              <a:t>claudeProcess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6A6B8"/>
                </a:solidFill>
                <a:latin typeface="Microsoft YaHei"/>
              </a:rPr>
              <a:t>Claude CLI 子进程与 JSONL 流解析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718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D3EE"/>
                </a:solidFill>
                <a:latin typeface="Segoe UI"/>
              </a:rPr>
              <a:t>agentPool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6A6B8"/>
                </a:solidFill>
                <a:latin typeface="Microsoft YaHei"/>
              </a:rPr>
              <a:t>多智能体池，队列并发（上限3）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204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D3EE"/>
                </a:solidFill>
                <a:latin typeface="Segoe UI"/>
              </a:rPr>
              <a:t>terminalProcess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6A6B8"/>
                </a:solidFill>
                <a:latin typeface="Microsoft YaHei"/>
              </a:rPr>
              <a:t>本地 PTY 终端与会话同步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D3EE"/>
                </a:solidFill>
                <a:latin typeface="Segoe UI"/>
              </a:rPr>
              <a:t>sshService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6A6B8"/>
                </a:solidFill>
                <a:latin typeface="Microsoft YaHei"/>
              </a:rPr>
              <a:t>SSH 连接池、SFTP、部署管线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D3EE"/>
                </a:solidFill>
                <a:latin typeface="Segoe UI"/>
              </a:rPr>
              <a:t>connectionService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6A6B8"/>
                </a:solidFill>
                <a:latin typeface="Microsoft YaHei"/>
              </a:rPr>
              <a:t>CLI 检测、API 探测、健康检查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D3EE"/>
                </a:solidFill>
                <a:latin typeface="Segoe UI"/>
              </a:rPr>
              <a:t>main.ts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6A6B8"/>
                </a:solidFill>
                <a:latin typeface="Microsoft YaHei"/>
              </a:rPr>
              <a:t>170+ IPC 处理器，任务/设置持久化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246120"/>
            <a:ext cx="3410712" cy="1097280"/>
          </a:xfrm>
          <a:prstGeom prst="roundRect">
            <a:avLst>
              <a:gd name="adj" fmla="val 10000"/>
            </a:avLst>
          </a:prstGeom>
          <a:solidFill>
            <a:srgbClr val="232332"/>
          </a:solidFill>
          <a:ln w="9525">
            <a:solidFill>
              <a:srgbClr val="4E8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310128"/>
            <a:ext cx="3410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4E8DF3"/>
                </a:solidFill>
                <a:latin typeface="Segoe UI"/>
              </a:rPr>
              <a:t>contextBridge / IPC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703320"/>
            <a:ext cx="3410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6A6B8"/>
                </a:solidFill>
                <a:latin typeface="Microsoft YaHei"/>
              </a:rPr>
              <a:t>160+ 安全方法 · 零信任隔离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023360"/>
            <a:ext cx="3410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34D999"/>
                </a:solidFill>
                <a:latin typeface="Microsoft YaHei"/>
              </a:rPr>
              <a:t>credentials 仅驻留主进程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6118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6C6C7E"/>
                </a:solidFill>
                <a:latin typeface="Microsoft YaHe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6118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6C6C7E"/>
                </a:solidFill>
                <a:latin typeface="Microsoft YaHei"/>
              </a:rPr>
              <a:t>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82712" y="178308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82712" y="1783080"/>
            <a:ext cx="3657600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82712" y="178308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E0E14"/>
                </a:solidFill>
                <a:latin typeface="Microsoft YaHei"/>
              </a:rPr>
              <a:t>渲染进程 · Renderer (React)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2" y="24688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C6CF0"/>
                </a:solidFill>
                <a:latin typeface="Microsoft YaHei"/>
              </a:rPr>
              <a:t>左侧栏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27432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6A6B8"/>
                </a:solidFill>
                <a:latin typeface="Microsoft YaHei"/>
              </a:rPr>
              <a:t>文件树 / 会话 / Git / 记忆 / 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2" y="3246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C6CF0"/>
                </a:solidFill>
                <a:latin typeface="Microsoft YaHei"/>
              </a:rPr>
              <a:t>中央区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35204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6A6B8"/>
                </a:solidFill>
                <a:latin typeface="Microsoft YaHei"/>
              </a:rPr>
              <a:t>聊天 / 终端 / 欢迎页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40233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C6CF0"/>
                </a:solidFill>
                <a:latin typeface="Microsoft YaHei"/>
              </a:rPr>
              <a:t>右侧栏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2" y="42976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6A6B8"/>
                </a:solidFill>
                <a:latin typeface="Microsoft YaHei"/>
              </a:rPr>
              <a:t>看板 / 监控 / Pixel Office / 部署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7032" y="48006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C6CF0"/>
                </a:solidFill>
                <a:latin typeface="Microsoft YaHei"/>
              </a:rPr>
              <a:t>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7032" y="507492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6A6B8"/>
                </a:solidFill>
                <a:latin typeface="Microsoft YaHei"/>
              </a:rPr>
              <a:t>状态栏（模型 · Token · 成本）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943600"/>
            <a:ext cx="2066543" cy="329184"/>
          </a:xfrm>
          <a:prstGeom prst="roundRect">
            <a:avLst>
              <a:gd name="adj" fmla="val 5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943600"/>
            <a:ext cx="206654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6A6B8"/>
                </a:solidFill>
                <a:latin typeface="Segoe UI"/>
              </a:rPr>
              <a:t>Electron 28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24911" y="5943600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24911" y="5943600"/>
            <a:ext cx="16276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6A6B8"/>
                </a:solidFill>
                <a:latin typeface="Segoe UI"/>
              </a:rPr>
              <a:t>React 18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62271" y="5943600"/>
            <a:ext cx="2212848" cy="329184"/>
          </a:xfrm>
          <a:prstGeom prst="roundRect">
            <a:avLst>
              <a:gd name="adj" fmla="val 5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62271" y="5943600"/>
            <a:ext cx="22128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6A6B8"/>
                </a:solidFill>
                <a:latin typeface="Segoe UI"/>
              </a:rPr>
              <a:t>TypeScript 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84847" y="5943600"/>
            <a:ext cx="1335024" cy="329184"/>
          </a:xfrm>
          <a:prstGeom prst="roundRect">
            <a:avLst>
              <a:gd name="adj" fmla="val 5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84847" y="5943600"/>
            <a:ext cx="13350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6A6B8"/>
                </a:solidFill>
                <a:latin typeface="Segoe UI"/>
              </a:rPr>
              <a:t>Vite 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599" y="59436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599" y="5943600"/>
            <a:ext cx="1920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6A6B8"/>
                </a:solidFill>
                <a:latin typeface="Segoe UI"/>
              </a:rPr>
              <a:t>xterm.js 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59567" y="5943600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59567" y="5943600"/>
            <a:ext cx="16276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6A6B8"/>
                </a:solidFill>
                <a:latin typeface="Segoe UI"/>
              </a:rPr>
              <a:t>node-pty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996927" y="5943600"/>
            <a:ext cx="1042416" cy="329184"/>
          </a:xfrm>
          <a:prstGeom prst="roundRect">
            <a:avLst>
              <a:gd name="adj" fmla="val 5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996927" y="5943600"/>
            <a:ext cx="104241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6A6B8"/>
                </a:solidFill>
                <a:latin typeface="Segoe UI"/>
              </a:rPr>
              <a:t>ssh2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3149071" y="5943600"/>
            <a:ext cx="3236976" cy="329184"/>
          </a:xfrm>
          <a:prstGeom prst="roundRect">
            <a:avLst>
              <a:gd name="adj" fmla="val 5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149071" y="5943600"/>
            <a:ext cx="32369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6A6B8"/>
                </a:solidFill>
                <a:latin typeface="Segoe UI"/>
              </a:rPr>
              <a:t>electron-builder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09728" cy="841248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1F6"/>
                </a:solidFill>
                <a:latin typeface="Microsoft YaHei"/>
              </a:rPr>
              <a:t>多模型 AI 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6A6B8"/>
                </a:solidFill>
                <a:latin typeface="Microsoft YaHei"/>
              </a:rPr>
              <a:t>统一接入多家模型，流畅的流式交互体验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5486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C6C7E"/>
                </a:solidFill>
                <a:latin typeface="Segoe UI"/>
              </a:rPr>
              <a:t>Claude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4415" cy="9525"/>
          </a:xfrm>
          <a:prstGeom prst="rect">
            <a:avLst/>
          </a:prstGeom>
          <a:solidFill>
            <a:srgbClr val="2C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05060"/>
                </a:solidFill>
                <a:latin typeface="Microsoft YaHei"/>
              </a:rPr>
              <a:t>Claude Space  ·  AI 驱动的项目开发工作台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05060"/>
                </a:solidFill>
                <a:latin typeface="Segoe UI"/>
              </a:rPr>
              <a:t>05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669280" cy="4023360"/>
          </a:xfrm>
          <a:prstGeom prst="roundRect">
            <a:avLst>
              <a:gd name="adj" fmla="val 4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7C6CF0"/>
                </a:solidFill>
                <a:latin typeface="Microsoft YaHei"/>
              </a:rPr>
              <a:t>对话能力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5120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300">
                <a:solidFill>
                  <a:srgbClr val="A6A6B8"/>
                </a:solidFill>
                <a:latin typeface="Microsoft YaHei"/>
              </a:rPr>
              <a:t>支持 Claude / DeepSeek / OpenAI / 自定义模型，一键切换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300">
                <a:solidFill>
                  <a:srgbClr val="A6A6B8"/>
                </a:solidFill>
                <a:latin typeface="Microsoft YaHei"/>
              </a:rPr>
              <a:t>流式消息渲染，实时展示 AI 思考过程（Thinking Block）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300">
                <a:solidFill>
                  <a:srgbClr val="A6A6B8"/>
                </a:solidFill>
                <a:latin typeface="Microsoft YaHei"/>
              </a:rPr>
              <a:t>工具调用卡片：Bash / Read / Write / Edit / Grep / Glob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300">
                <a:solidFill>
                  <a:srgbClr val="A6A6B8"/>
                </a:solidFill>
                <a:latin typeface="Microsoft YaHei"/>
              </a:rPr>
              <a:t>多 Tab 会话管理，每个会话独立历史与上下文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300">
                <a:solidFill>
                  <a:srgbClr val="A6A6B8"/>
                </a:solidFill>
                <a:latin typeface="Microsoft YaHei"/>
              </a:rPr>
              <a:t>图片粘贴 / 拖拽支持，多模态输入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300">
                <a:solidFill>
                  <a:srgbClr val="A6A6B8"/>
                </a:solidFill>
                <a:latin typeface="Microsoft YaHei"/>
              </a:rPr>
              <a:t>@mention 指定智能体响应，群聊协作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148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Microsoft YaHei"/>
              </a:rPr>
              <a:t>已支持模型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331720"/>
            <a:ext cx="2487168" cy="105156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2478024"/>
            <a:ext cx="64008" cy="758952"/>
          </a:xfrm>
          <a:prstGeom prst="roundRect">
            <a:avLst/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2532888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1F1F6"/>
                </a:solidFill>
                <a:latin typeface="Segoe UI"/>
              </a:rPr>
              <a:t>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93522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6A6B8"/>
                </a:solidFill>
                <a:latin typeface="Microsoft YaHei"/>
              </a:rPr>
              <a:t>Anthropic 官方 · Claude Code CLI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3144" y="2331720"/>
            <a:ext cx="2487168" cy="105156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53144" y="2478024"/>
            <a:ext cx="64008" cy="758952"/>
          </a:xfrm>
          <a:prstGeom prst="roundRect">
            <a:avLst/>
          </a:prstGeom>
          <a:solidFill>
            <a:srgbClr val="4E8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9176" y="2532888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1F1F6"/>
                </a:solidFill>
                <a:latin typeface="Segoe UI"/>
              </a:rPr>
              <a:t>DeepSeek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293522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6A6B8"/>
                </a:solidFill>
                <a:latin typeface="Microsoft YaHei"/>
              </a:rPr>
              <a:t>国产高性价比 · 自定义端点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566160"/>
            <a:ext cx="2487168" cy="105156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3712464"/>
            <a:ext cx="64008" cy="758952"/>
          </a:xfrm>
          <a:prstGeom prst="roundRect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3767328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1F1F6"/>
                </a:solidFill>
                <a:latin typeface="Segoe UI"/>
              </a:rPr>
              <a:t>OpenAI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416966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6A6B8"/>
                </a:solidFill>
                <a:latin typeface="Microsoft YaHei"/>
              </a:rPr>
              <a:t>GPT 系列 · 兼容接口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53144" y="3566160"/>
            <a:ext cx="2487168" cy="1051560"/>
          </a:xfrm>
          <a:prstGeom prst="roundRect">
            <a:avLst>
              <a:gd name="adj" fmla="val 8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53144" y="3712464"/>
            <a:ext cx="64008" cy="758952"/>
          </a:xfrm>
          <a:prstGeom prst="roundRect">
            <a:avLst/>
          </a:prstGeom>
          <a:solidFill>
            <a:srgbClr val="F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3767328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1F1F6"/>
                </a:solidFill>
                <a:latin typeface="Segoe UI"/>
              </a:rPr>
              <a:t>Custom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416966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6A6B8"/>
                </a:solidFill>
                <a:latin typeface="Microsoft YaHei"/>
              </a:rPr>
              <a:t>任意 OpenAI 兼容服务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709160"/>
            <a:ext cx="5148072" cy="1097280"/>
          </a:xfrm>
          <a:prstGeom prst="roundRect">
            <a:avLst>
              <a:gd name="adj" fmla="val 6000"/>
            </a:avLst>
          </a:prstGeom>
          <a:solidFill>
            <a:srgbClr val="232332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818888"/>
            <a:ext cx="5148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Microsoft YaHei"/>
              </a:rPr>
              <a:t>用户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093208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1F1F6"/>
                </a:solidFill>
                <a:latin typeface="Microsoft YaHei"/>
              </a:rPr>
              <a:t>帮我看下这个文件的结构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422392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C6C7E"/>
                </a:solidFill>
                <a:latin typeface="Microsoft YaHei"/>
              </a:rPr>
              <a:t>AI · 正在调用 Read 工具...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09728" cy="841248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1F6"/>
                </a:solidFill>
                <a:latin typeface="Microsoft YaHei"/>
              </a:rPr>
              <a:t>多智能体团队协作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6A6B8"/>
                </a:solidFill>
                <a:latin typeface="Microsoft YaHei"/>
              </a:rPr>
              <a:t>5种角色原型，9人虚拟团队，并行作业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5486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C6C7E"/>
                </a:solidFill>
                <a:latin typeface="Segoe UI"/>
              </a:rPr>
              <a:t>Claude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4415" cy="9525"/>
          </a:xfrm>
          <a:prstGeom prst="rect">
            <a:avLst/>
          </a:prstGeom>
          <a:solidFill>
            <a:srgbClr val="2C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05060"/>
                </a:solidFill>
                <a:latin typeface="Microsoft YaHei"/>
              </a:rPr>
              <a:t>Claude Space  ·  AI 驱动的项目开发工作台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05060"/>
                </a:solidFill>
                <a:latin typeface="Segoe UI"/>
              </a:rPr>
              <a:t>06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C6CF0"/>
                </a:solidFill>
                <a:latin typeface="Microsoft YaHei"/>
              </a:rPr>
              <a:t>5 种智能体原型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5303520" cy="713232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95144"/>
            <a:ext cx="64008" cy="420624"/>
          </a:xfrm>
          <a:prstGeom prst="rect">
            <a:avLst/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C6CF0"/>
                </a:solidFill>
                <a:latin typeface="Segoe UI"/>
              </a:rPr>
              <a:t>Coordinator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9631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1F1F6"/>
                </a:solidFill>
                <a:latin typeface="Microsoft YaHei"/>
              </a:rPr>
              <a:t>协调员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3682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项目/产品管理 · 任务分配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35224"/>
            <a:ext cx="5303520" cy="713232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81528"/>
            <a:ext cx="64008" cy="420624"/>
          </a:xfrm>
          <a:prstGeom prst="rect">
            <a:avLst/>
          </a:prstGeom>
          <a:solidFill>
            <a:srgbClr val="4E8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2666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E8DF3"/>
                </a:solidFill>
                <a:latin typeface="Segoe UI"/>
              </a:rPr>
              <a:t>Architect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8269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1F1F6"/>
                </a:solidFill>
                <a:latin typeface="Microsoft YaHei"/>
              </a:rPr>
              <a:t>架构师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1546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系统设计 · 技术选型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21608"/>
            <a:ext cx="5303520" cy="713232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67912"/>
            <a:ext cx="64008" cy="420624"/>
          </a:xfrm>
          <a:prstGeom prst="rect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130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D999"/>
                </a:solidFill>
                <a:latin typeface="Segoe UI"/>
              </a:rPr>
              <a:t>Implementer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690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1F1F6"/>
                </a:solidFill>
                <a:latin typeface="Microsoft YaHei"/>
              </a:rPr>
              <a:t>实现者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9410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编码实现 · 功能开发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07992"/>
            <a:ext cx="5303520" cy="713232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654296"/>
            <a:ext cx="64008" cy="420624"/>
          </a:xfrm>
          <a:prstGeom prst="rect">
            <a:avLst/>
          </a:prstGeom>
          <a:solidFill>
            <a:srgbClr val="F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9943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A34D"/>
                </a:solidFill>
                <a:latin typeface="Segoe UI"/>
              </a:rPr>
              <a:t>SecurityReviewer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5546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1F1F6"/>
                </a:solidFill>
                <a:latin typeface="Microsoft YaHei"/>
              </a:rPr>
              <a:t>安全审查员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727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测试 · 安全审计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294376"/>
            <a:ext cx="5303520" cy="713232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440680"/>
            <a:ext cx="64008" cy="42062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38581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CodeExplorer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6418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1F1F6"/>
                </a:solidFill>
                <a:latin typeface="Microsoft YaHei"/>
              </a:rPr>
              <a:t>代码探索者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5138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代码分析 · 探索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1691640"/>
            <a:ext cx="5468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Microsoft YaHei"/>
              </a:rPr>
              <a:t>9 人默认团队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2194560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09360" y="2359152"/>
            <a:ext cx="310896" cy="310896"/>
          </a:xfrm>
          <a:prstGeom prst="ellipse">
            <a:avLst/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02552" y="2331720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1F6"/>
                </a:solidFill>
                <a:latin typeface="Microsoft YaHei"/>
              </a:rPr>
              <a:t>王PM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2552" y="2606040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C6CF0"/>
                </a:solidFill>
                <a:latin typeface="Microsoft YaHei"/>
              </a:rPr>
              <a:t>协调员</a:t>
            </a:r>
          </a:p>
        </p:txBody>
      </p:sp>
      <p:sp>
        <p:nvSpPr>
          <p:cNvPr id="40" name="Oval 39"/>
          <p:cNvSpPr/>
          <p:nvPr/>
        </p:nvSpPr>
        <p:spPr>
          <a:xfrm>
            <a:off x="6309360" y="2816352"/>
            <a:ext cx="91440" cy="91440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8" y="276148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Microsoft YaHei"/>
              </a:rPr>
              <a:t>就绪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82712" y="2194560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19872" y="2359152"/>
            <a:ext cx="310896" cy="310896"/>
          </a:xfrm>
          <a:prstGeom prst="ellipse">
            <a:avLst/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13064" y="2331720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1F6"/>
                </a:solidFill>
                <a:latin typeface="Microsoft YaHei"/>
              </a:rPr>
              <a:t>李PM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13064" y="2606040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C6CF0"/>
                </a:solidFill>
                <a:latin typeface="Microsoft YaHei"/>
              </a:rPr>
              <a:t>协调员</a:t>
            </a:r>
          </a:p>
        </p:txBody>
      </p:sp>
      <p:sp>
        <p:nvSpPr>
          <p:cNvPr id="46" name="Oval 45"/>
          <p:cNvSpPr/>
          <p:nvPr/>
        </p:nvSpPr>
        <p:spPr>
          <a:xfrm>
            <a:off x="8119872" y="2816352"/>
            <a:ext cx="91440" cy="91440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276148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Microsoft YaHei"/>
              </a:rPr>
              <a:t>就绪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93224" y="2194560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30384" y="2359152"/>
            <a:ext cx="310896" cy="310896"/>
          </a:xfrm>
          <a:prstGeom prst="ellipse">
            <a:avLst/>
          </a:prstGeom>
          <a:solidFill>
            <a:srgbClr val="4E8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23576" y="2331720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1F6"/>
                </a:solidFill>
                <a:latin typeface="Microsoft YaHei"/>
              </a:rPr>
              <a:t>张架构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23576" y="2606040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E8DF3"/>
                </a:solidFill>
                <a:latin typeface="Microsoft YaHei"/>
              </a:rPr>
              <a:t>架构师</a:t>
            </a:r>
          </a:p>
        </p:txBody>
      </p:sp>
      <p:sp>
        <p:nvSpPr>
          <p:cNvPr id="52" name="Oval 51"/>
          <p:cNvSpPr/>
          <p:nvPr/>
        </p:nvSpPr>
        <p:spPr>
          <a:xfrm>
            <a:off x="9930384" y="2816352"/>
            <a:ext cx="91440" cy="91440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85832" y="276148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Microsoft YaHei"/>
              </a:rPr>
              <a:t>就绪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3282696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09360" y="3447288"/>
            <a:ext cx="310896" cy="310896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02552" y="3419856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1F6"/>
                </a:solidFill>
                <a:latin typeface="Microsoft YaHei"/>
              </a:rPr>
              <a:t>赵高工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02552" y="3694176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4D999"/>
                </a:solidFill>
                <a:latin typeface="Microsoft YaHei"/>
              </a:rPr>
              <a:t>实现者</a:t>
            </a:r>
          </a:p>
        </p:txBody>
      </p:sp>
      <p:sp>
        <p:nvSpPr>
          <p:cNvPr id="58" name="Oval 57"/>
          <p:cNvSpPr/>
          <p:nvPr/>
        </p:nvSpPr>
        <p:spPr>
          <a:xfrm>
            <a:off x="6309360" y="3904488"/>
            <a:ext cx="91440" cy="91440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64808" y="3849624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Microsoft YaHei"/>
              </a:rPr>
              <a:t>就绪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82712" y="3282696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119872" y="3447288"/>
            <a:ext cx="310896" cy="310896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13064" y="3419856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1F6"/>
                </a:solidFill>
                <a:latin typeface="Microsoft YaHei"/>
              </a:rPr>
              <a:t>钱开发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13064" y="3694176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4D999"/>
                </a:solidFill>
                <a:latin typeface="Microsoft YaHei"/>
              </a:rPr>
              <a:t>实现者</a:t>
            </a:r>
          </a:p>
        </p:txBody>
      </p:sp>
      <p:sp>
        <p:nvSpPr>
          <p:cNvPr id="64" name="Oval 63"/>
          <p:cNvSpPr/>
          <p:nvPr/>
        </p:nvSpPr>
        <p:spPr>
          <a:xfrm>
            <a:off x="8119872" y="3904488"/>
            <a:ext cx="91440" cy="91440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75320" y="3849624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Microsoft YaHei"/>
              </a:rPr>
              <a:t>就绪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793224" y="3282696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930384" y="3447288"/>
            <a:ext cx="310896" cy="310896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323576" y="3419856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1F6"/>
                </a:solidFill>
                <a:latin typeface="Microsoft YaHei"/>
              </a:rPr>
              <a:t>孙开发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23576" y="3694176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4D999"/>
                </a:solidFill>
                <a:latin typeface="Microsoft YaHei"/>
              </a:rPr>
              <a:t>实现者</a:t>
            </a:r>
          </a:p>
        </p:txBody>
      </p:sp>
      <p:sp>
        <p:nvSpPr>
          <p:cNvPr id="70" name="Oval 69"/>
          <p:cNvSpPr/>
          <p:nvPr/>
        </p:nvSpPr>
        <p:spPr>
          <a:xfrm>
            <a:off x="9930384" y="3904488"/>
            <a:ext cx="91440" cy="91440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85832" y="3849624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Microsoft YaHei"/>
              </a:rPr>
              <a:t>就绪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72200" y="4370832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309360" y="4535424"/>
            <a:ext cx="310896" cy="310896"/>
          </a:xfrm>
          <a:prstGeom prst="ellipse">
            <a:avLst/>
          </a:prstGeom>
          <a:solidFill>
            <a:srgbClr val="F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02552" y="4507992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1F6"/>
                </a:solidFill>
                <a:latin typeface="Microsoft YaHei"/>
              </a:rPr>
              <a:t>周QA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02552" y="478231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A34D"/>
                </a:solidFill>
                <a:latin typeface="Microsoft YaHei"/>
              </a:rPr>
              <a:t>审查员</a:t>
            </a:r>
          </a:p>
        </p:txBody>
      </p:sp>
      <p:sp>
        <p:nvSpPr>
          <p:cNvPr id="76" name="Oval 75"/>
          <p:cNvSpPr/>
          <p:nvPr/>
        </p:nvSpPr>
        <p:spPr>
          <a:xfrm>
            <a:off x="6309360" y="4992624"/>
            <a:ext cx="91440" cy="91440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64808" y="493776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Microsoft YaHei"/>
              </a:rPr>
              <a:t>就绪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982712" y="4370832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119872" y="4535424"/>
            <a:ext cx="310896" cy="310896"/>
          </a:xfrm>
          <a:prstGeom prst="ellipse">
            <a:avLst/>
          </a:prstGeom>
          <a:solidFill>
            <a:srgbClr val="F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13064" y="4507992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1F6"/>
                </a:solidFill>
                <a:latin typeface="Microsoft YaHei"/>
              </a:rPr>
              <a:t>吴审查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13064" y="478231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A34D"/>
                </a:solidFill>
                <a:latin typeface="Microsoft YaHei"/>
              </a:rPr>
              <a:t>审查员</a:t>
            </a:r>
          </a:p>
        </p:txBody>
      </p:sp>
      <p:sp>
        <p:nvSpPr>
          <p:cNvPr id="82" name="Oval 81"/>
          <p:cNvSpPr/>
          <p:nvPr/>
        </p:nvSpPr>
        <p:spPr>
          <a:xfrm>
            <a:off x="8119872" y="4992624"/>
            <a:ext cx="91440" cy="91440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75320" y="493776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Microsoft YaHei"/>
              </a:rPr>
              <a:t>就绪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793224" y="4370832"/>
            <a:ext cx="1700784" cy="960120"/>
          </a:xfrm>
          <a:prstGeom prst="roundRect">
            <a:avLst>
              <a:gd name="adj" fmla="val 1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930384" y="4535424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23576" y="4507992"/>
            <a:ext cx="10607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1F6"/>
                </a:solidFill>
                <a:latin typeface="Microsoft YaHei"/>
              </a:rPr>
              <a:t>Claude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23576" y="478231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D3EE"/>
                </a:solidFill>
                <a:latin typeface="Microsoft YaHei"/>
              </a:rPr>
              <a:t>AI</a:t>
            </a:r>
          </a:p>
        </p:txBody>
      </p:sp>
      <p:sp>
        <p:nvSpPr>
          <p:cNvPr id="88" name="Oval 87"/>
          <p:cNvSpPr/>
          <p:nvPr/>
        </p:nvSpPr>
        <p:spPr>
          <a:xfrm>
            <a:off x="9930384" y="4992624"/>
            <a:ext cx="91440" cy="91440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085832" y="493776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Microsoft YaHei"/>
              </a:rPr>
              <a:t>就绪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72200" y="5532120"/>
            <a:ext cx="5468112" cy="502920"/>
          </a:xfrm>
          <a:prstGeom prst="roundRect">
            <a:avLst>
              <a:gd name="adj" fmla="val 15000"/>
            </a:avLst>
          </a:prstGeom>
          <a:solidFill>
            <a:srgbClr val="161620"/>
          </a:solidFill>
          <a:ln w="9525">
            <a:solidFill>
              <a:srgbClr val="7C6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5080" y="5559552"/>
            <a:ext cx="54681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A6A6B8"/>
                </a:solidFill>
                <a:latin typeface="Microsoft YaHei"/>
              </a:rPr>
              <a:t>队列调度 · 最大 3 并发 · @mention 指派 · 上下文传递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09728" cy="841248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1F6"/>
                </a:solidFill>
                <a:latin typeface="Microsoft YaHei"/>
              </a:rPr>
              <a:t>Pixel Office 虚拟办公室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6A6B8"/>
                </a:solidFill>
                <a:latin typeface="Microsoft YaHei"/>
              </a:rPr>
              <a:t>等距像素风工作空间，团队状态可视化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5486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C6C7E"/>
                </a:solidFill>
                <a:latin typeface="Segoe UI"/>
              </a:rPr>
              <a:t>Claude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4415" cy="9525"/>
          </a:xfrm>
          <a:prstGeom prst="rect">
            <a:avLst/>
          </a:prstGeom>
          <a:solidFill>
            <a:srgbClr val="2C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05060"/>
                </a:solidFill>
                <a:latin typeface="Microsoft YaHei"/>
              </a:rPr>
              <a:t>Claude Space  ·  AI 驱动的项目开发工作台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05060"/>
                </a:solidFill>
                <a:latin typeface="Segoe UI"/>
              </a:rPr>
              <a:t>07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11096"/>
            <a:ext cx="64008" cy="1298448"/>
          </a:xfrm>
          <a:prstGeom prst="roundRect">
            <a:avLst>
              <a:gd name="adj" fmla="val 50000"/>
            </a:avLst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659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1F1F6"/>
                </a:solidFill>
                <a:latin typeface="Microsoft YaHei"/>
              </a:rPr>
              <a:t>等距像素风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50008"/>
            <a:ext cx="22402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Isometric 像素艺术风格虚拟办公场景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7830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46704" y="1911096"/>
            <a:ext cx="64008" cy="1298448"/>
          </a:xfrm>
          <a:prstGeom prst="roundRect">
            <a:avLst>
              <a:gd name="adj" fmla="val 50000"/>
            </a:avLst>
          </a:prstGeom>
          <a:solidFill>
            <a:srgbClr val="4E8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9659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1F1F6"/>
                </a:solidFill>
                <a:latin typeface="Microsoft YaHei"/>
              </a:rPr>
              <a:t>9 位成员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350008"/>
            <a:ext cx="22402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团队成员在工位实时可视化呈现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7830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1911096"/>
            <a:ext cx="64008" cy="1298448"/>
          </a:xfrm>
          <a:prstGeom prst="roundRect">
            <a:avLst>
              <a:gd name="adj" fmla="val 50000"/>
            </a:avLst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1F1F6"/>
                </a:solidFill>
                <a:latin typeface="Microsoft YaHei"/>
              </a:rPr>
              <a:t>状态动画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50008"/>
            <a:ext cx="22402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工作 / 忙碌 / 空闲 动画与进度条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17830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42832" y="1911096"/>
            <a:ext cx="64008" cy="12984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8864" y="19659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1F1F6"/>
                </a:solidFill>
                <a:latin typeface="Microsoft YaHei"/>
              </a:rPr>
              <a:t>思考气泡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2350008"/>
            <a:ext cx="22402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A6A6B8"/>
                </a:solidFill>
                <a:latin typeface="Microsoft YaHei"/>
              </a:rPr>
              <a:t>随机气泡展示成员当前关注点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03320"/>
            <a:ext cx="11091672" cy="2331720"/>
          </a:xfrm>
          <a:prstGeom prst="roundRect">
            <a:avLst>
              <a:gd name="adj" fmla="val 3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Microsoft YaHei"/>
              </a:rPr>
              <a:t>虚拟办公场景示意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343400"/>
            <a:ext cx="3429000" cy="502920"/>
          </a:xfrm>
          <a:prstGeom prst="roundRect">
            <a:avLst>
              <a:gd name="adj" fmla="val 15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4128" y="4480560"/>
            <a:ext cx="237744" cy="237744"/>
          </a:xfrm>
          <a:prstGeom prst="ellipse">
            <a:avLst/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53312" y="440740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1F1F6"/>
                </a:solidFill>
                <a:latin typeface="Microsoft YaHei"/>
              </a:rPr>
              <a:t>王PM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4617720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6A6B8"/>
                </a:solidFill>
                <a:latin typeface="Microsoft YaHei"/>
              </a:rPr>
              <a:t>编写需求</a:t>
            </a:r>
          </a:p>
        </p:txBody>
      </p:sp>
      <p:sp>
        <p:nvSpPr>
          <p:cNvPr id="31" name="Oval 30"/>
          <p:cNvSpPr/>
          <p:nvPr/>
        </p:nvSpPr>
        <p:spPr>
          <a:xfrm>
            <a:off x="3383280" y="4526280"/>
            <a:ext cx="109728" cy="109728"/>
          </a:xfrm>
          <a:prstGeom prst="ellipse">
            <a:avLst/>
          </a:prstGeom>
          <a:solidFill>
            <a:srgbClr val="F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7872" y="44348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6EB4"/>
                </a:solidFill>
                <a:latin typeface="Microsoft YaHei"/>
              </a:rPr>
              <a:t>忙碌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53128" y="4343400"/>
            <a:ext cx="3429000" cy="502920"/>
          </a:xfrm>
          <a:prstGeom prst="roundRect">
            <a:avLst>
              <a:gd name="adj" fmla="val 15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62856" y="4480560"/>
            <a:ext cx="237744" cy="237744"/>
          </a:xfrm>
          <a:prstGeom prst="ellipse">
            <a:avLst/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440740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1F1F6"/>
                </a:solidFill>
                <a:latin typeface="Microsoft YaHei"/>
              </a:rPr>
              <a:t>李PM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4617720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6A6B8"/>
                </a:solidFill>
                <a:latin typeface="Microsoft YaHei"/>
              </a:rPr>
              <a:t>评审中</a:t>
            </a:r>
          </a:p>
        </p:txBody>
      </p:sp>
      <p:sp>
        <p:nvSpPr>
          <p:cNvPr id="37" name="Oval 36"/>
          <p:cNvSpPr/>
          <p:nvPr/>
        </p:nvSpPr>
        <p:spPr>
          <a:xfrm>
            <a:off x="6922008" y="4526280"/>
            <a:ext cx="109728" cy="109728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44348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34D999"/>
                </a:solidFill>
                <a:latin typeface="Microsoft YaHei"/>
              </a:rPr>
              <a:t>工作中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91856" y="4343400"/>
            <a:ext cx="3429000" cy="502920"/>
          </a:xfrm>
          <a:prstGeom prst="roundRect">
            <a:avLst>
              <a:gd name="adj" fmla="val 15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01584" y="4480560"/>
            <a:ext cx="237744" cy="237744"/>
          </a:xfrm>
          <a:prstGeom prst="ellipse">
            <a:avLst/>
          </a:prstGeom>
          <a:solidFill>
            <a:srgbClr val="4E8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0768" y="440740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1F1F6"/>
                </a:solidFill>
                <a:latin typeface="Microsoft YaHei"/>
              </a:rPr>
              <a:t>张架构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8" y="4617720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6A6B8"/>
                </a:solidFill>
                <a:latin typeface="Microsoft YaHei"/>
              </a:rPr>
              <a:t>设计模块</a:t>
            </a:r>
          </a:p>
        </p:txBody>
      </p:sp>
      <p:sp>
        <p:nvSpPr>
          <p:cNvPr id="43" name="Oval 42"/>
          <p:cNvSpPr/>
          <p:nvPr/>
        </p:nvSpPr>
        <p:spPr>
          <a:xfrm>
            <a:off x="10460736" y="4526280"/>
            <a:ext cx="109728" cy="109728"/>
          </a:xfrm>
          <a:prstGeom prst="ellipse">
            <a:avLst/>
          </a:prstGeom>
          <a:solidFill>
            <a:srgbClr val="F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25328" y="44348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6EB4"/>
                </a:solidFill>
                <a:latin typeface="Microsoft YaHei"/>
              </a:rPr>
              <a:t>忙碌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4956048"/>
            <a:ext cx="3429000" cy="502920"/>
          </a:xfrm>
          <a:prstGeom prst="roundRect">
            <a:avLst>
              <a:gd name="adj" fmla="val 15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4128" y="5093208"/>
            <a:ext cx="237744" cy="237744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53312" y="502005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1F1F6"/>
                </a:solidFill>
                <a:latin typeface="Microsoft YaHei"/>
              </a:rPr>
              <a:t>赵高工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53312" y="5230368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6A6B8"/>
                </a:solidFill>
                <a:latin typeface="Microsoft YaHei"/>
              </a:rPr>
              <a:t>编码中</a:t>
            </a:r>
          </a:p>
        </p:txBody>
      </p:sp>
      <p:sp>
        <p:nvSpPr>
          <p:cNvPr id="49" name="Oval 48"/>
          <p:cNvSpPr/>
          <p:nvPr/>
        </p:nvSpPr>
        <p:spPr>
          <a:xfrm>
            <a:off x="3383280" y="5138928"/>
            <a:ext cx="109728" cy="109728"/>
          </a:xfrm>
          <a:prstGeom prst="ellipse">
            <a:avLst/>
          </a:prstGeom>
          <a:solidFill>
            <a:srgbClr val="F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47872" y="5047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6EB4"/>
                </a:solidFill>
                <a:latin typeface="Microsoft YaHei"/>
              </a:rPr>
              <a:t>忙碌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53128" y="4956048"/>
            <a:ext cx="3429000" cy="502920"/>
          </a:xfrm>
          <a:prstGeom prst="roundRect">
            <a:avLst>
              <a:gd name="adj" fmla="val 15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62856" y="5093208"/>
            <a:ext cx="237744" cy="237744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92040" y="502005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1F1F6"/>
                </a:solidFill>
                <a:latin typeface="Microsoft YaHei"/>
              </a:rPr>
              <a:t>钱开发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92040" y="5230368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6A6B8"/>
                </a:solidFill>
                <a:latin typeface="Microsoft YaHei"/>
              </a:rPr>
              <a:t>空闲</a:t>
            </a:r>
          </a:p>
        </p:txBody>
      </p:sp>
      <p:sp>
        <p:nvSpPr>
          <p:cNvPr id="55" name="Oval 54"/>
          <p:cNvSpPr/>
          <p:nvPr/>
        </p:nvSpPr>
        <p:spPr>
          <a:xfrm>
            <a:off x="6922008" y="5138928"/>
            <a:ext cx="109728" cy="109728"/>
          </a:xfrm>
          <a:prstGeom prst="ellipse">
            <a:avLst/>
          </a:prstGeom>
          <a:solidFill>
            <a:srgbClr val="6C6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86600" y="5047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C6C7E"/>
                </a:solidFill>
                <a:latin typeface="Microsoft YaHei"/>
              </a:rPr>
              <a:t>空闲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91856" y="4956048"/>
            <a:ext cx="3429000" cy="502920"/>
          </a:xfrm>
          <a:prstGeom prst="roundRect">
            <a:avLst>
              <a:gd name="adj" fmla="val 15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101584" y="5093208"/>
            <a:ext cx="237744" cy="237744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30768" y="502005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1F1F6"/>
                </a:solidFill>
                <a:latin typeface="Microsoft YaHei"/>
              </a:rPr>
              <a:t>孙开发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5230368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6A6B8"/>
                </a:solidFill>
                <a:latin typeface="Microsoft YaHei"/>
              </a:rPr>
              <a:t>编码中</a:t>
            </a:r>
          </a:p>
        </p:txBody>
      </p:sp>
      <p:sp>
        <p:nvSpPr>
          <p:cNvPr id="61" name="Oval 60"/>
          <p:cNvSpPr/>
          <p:nvPr/>
        </p:nvSpPr>
        <p:spPr>
          <a:xfrm>
            <a:off x="10460736" y="5138928"/>
            <a:ext cx="109728" cy="109728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25328" y="50474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34D999"/>
                </a:solidFill>
                <a:latin typeface="Microsoft YaHei"/>
              </a:rPr>
              <a:t>工作中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" y="5568696"/>
            <a:ext cx="3429000" cy="502920"/>
          </a:xfrm>
          <a:prstGeom prst="roundRect">
            <a:avLst>
              <a:gd name="adj" fmla="val 15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24128" y="5705856"/>
            <a:ext cx="237744" cy="237744"/>
          </a:xfrm>
          <a:prstGeom prst="ellipse">
            <a:avLst/>
          </a:prstGeom>
          <a:solidFill>
            <a:srgbClr val="F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53312" y="5632704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1F1F6"/>
                </a:solidFill>
                <a:latin typeface="Microsoft YaHei"/>
              </a:rPr>
              <a:t>周QA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53312" y="5843016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6A6B8"/>
                </a:solidFill>
                <a:latin typeface="Microsoft YaHei"/>
              </a:rPr>
              <a:t>测试中</a:t>
            </a:r>
          </a:p>
        </p:txBody>
      </p:sp>
      <p:sp>
        <p:nvSpPr>
          <p:cNvPr id="67" name="Oval 66"/>
          <p:cNvSpPr/>
          <p:nvPr/>
        </p:nvSpPr>
        <p:spPr>
          <a:xfrm>
            <a:off x="3383280" y="5751576"/>
            <a:ext cx="109728" cy="109728"/>
          </a:xfrm>
          <a:prstGeom prst="ellipse">
            <a:avLst/>
          </a:prstGeom>
          <a:solidFill>
            <a:srgbClr val="F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47872" y="566013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6EB4"/>
                </a:solidFill>
                <a:latin typeface="Microsoft YaHei"/>
              </a:rPr>
              <a:t>忙碌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453128" y="5568696"/>
            <a:ext cx="3429000" cy="502920"/>
          </a:xfrm>
          <a:prstGeom prst="roundRect">
            <a:avLst>
              <a:gd name="adj" fmla="val 15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562856" y="5705856"/>
            <a:ext cx="237744" cy="237744"/>
          </a:xfrm>
          <a:prstGeom prst="ellipse">
            <a:avLst/>
          </a:prstGeom>
          <a:solidFill>
            <a:srgbClr val="F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92040" y="5632704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1F1F6"/>
                </a:solidFill>
                <a:latin typeface="Microsoft YaHei"/>
              </a:rPr>
              <a:t>吴审查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92040" y="5843016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6A6B8"/>
                </a:solidFill>
                <a:latin typeface="Microsoft YaHei"/>
              </a:rPr>
              <a:t>审查中</a:t>
            </a:r>
          </a:p>
        </p:txBody>
      </p:sp>
      <p:sp>
        <p:nvSpPr>
          <p:cNvPr id="73" name="Oval 72"/>
          <p:cNvSpPr/>
          <p:nvPr/>
        </p:nvSpPr>
        <p:spPr>
          <a:xfrm>
            <a:off x="6922008" y="5751576"/>
            <a:ext cx="109728" cy="109728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86600" y="566013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34D999"/>
                </a:solidFill>
                <a:latin typeface="Microsoft YaHei"/>
              </a:rPr>
              <a:t>工作中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991856" y="5568696"/>
            <a:ext cx="3429000" cy="502920"/>
          </a:xfrm>
          <a:prstGeom prst="roundRect">
            <a:avLst>
              <a:gd name="adj" fmla="val 15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101584" y="5705856"/>
            <a:ext cx="237744" cy="23774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30768" y="5632704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1F1F6"/>
                </a:solidFill>
                <a:latin typeface="Microsoft YaHei"/>
              </a:rPr>
              <a:t>Claude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30768" y="5843016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6A6B8"/>
                </a:solidFill>
                <a:latin typeface="Microsoft YaHei"/>
              </a:rPr>
              <a:t>思考中</a:t>
            </a:r>
          </a:p>
        </p:txBody>
      </p:sp>
      <p:sp>
        <p:nvSpPr>
          <p:cNvPr id="79" name="Oval 78"/>
          <p:cNvSpPr/>
          <p:nvPr/>
        </p:nvSpPr>
        <p:spPr>
          <a:xfrm>
            <a:off x="10460736" y="5751576"/>
            <a:ext cx="109728" cy="109728"/>
          </a:xfrm>
          <a:prstGeom prst="ellipse">
            <a:avLst/>
          </a:prstGeom>
          <a:solidFill>
            <a:srgbClr val="F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625328" y="566013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6EB4"/>
                </a:solidFill>
                <a:latin typeface="Microsoft YaHei"/>
              </a:rPr>
              <a:t>忙碌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09728" cy="841248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1F6"/>
                </a:solidFill>
                <a:latin typeface="Microsoft YaHei"/>
              </a:rPr>
              <a:t>项目管理与文件操作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6A6B8"/>
                </a:solidFill>
                <a:latin typeface="Microsoft YaHei"/>
              </a:rPr>
              <a:t>多工作空间、文件树、多 Tab 代码编辑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5486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C6C7E"/>
                </a:solidFill>
                <a:latin typeface="Segoe UI"/>
              </a:rPr>
              <a:t>Claude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4415" cy="9525"/>
          </a:xfrm>
          <a:prstGeom prst="rect">
            <a:avLst/>
          </a:prstGeom>
          <a:solidFill>
            <a:srgbClr val="2C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05060"/>
                </a:solidFill>
                <a:latin typeface="Microsoft YaHei"/>
              </a:rPr>
              <a:t>Claude Space  ·  AI 驱动的项目开发工作台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05060"/>
                </a:solidFill>
                <a:latin typeface="Segoe UI"/>
              </a:rPr>
              <a:t>08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2651760" cy="402336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11096"/>
            <a:ext cx="64008" cy="3767328"/>
          </a:xfrm>
          <a:prstGeom prst="roundRect">
            <a:avLst>
              <a:gd name="adj" fmla="val 50000"/>
            </a:avLst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659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多工作空间管理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23160"/>
            <a:ext cx="2240280" cy="32004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独立工作目录与配置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工作空间隔离的进程池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一键切换，状态保留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783080"/>
            <a:ext cx="2651760" cy="402336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46704" y="1911096"/>
            <a:ext cx="64008" cy="3767328"/>
          </a:xfrm>
          <a:prstGeom prst="roundRect">
            <a:avLst>
              <a:gd name="adj" fmla="val 50000"/>
            </a:avLst>
          </a:prstGeom>
          <a:solidFill>
            <a:srgbClr val="4E8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9659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项目扫描与切换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423160"/>
            <a:ext cx="2240280" cy="32004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自动扫描 Claude 项目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最近项目快速打开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欢迎页引导选择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783080"/>
            <a:ext cx="2651760" cy="402336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1911096"/>
            <a:ext cx="64008" cy="37673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递归文件树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23160"/>
            <a:ext cx="2240280" cy="32004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目录递归展开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Git 状态图标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快速定位文件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1783080"/>
            <a:ext cx="2651760" cy="402336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42832" y="1911096"/>
            <a:ext cx="64008" cy="3767328"/>
          </a:xfrm>
          <a:prstGeom prst="roundRect">
            <a:avLst>
              <a:gd name="adj" fmla="val 50000"/>
            </a:avLst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8864" y="19659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代码编辑器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2423160"/>
            <a:ext cx="2240280" cy="32004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多 Tab 标签页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50+ 语言语法高亮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二进制文件识别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09728" cy="841248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1F6"/>
                </a:solidFill>
                <a:latin typeface="Microsoft YaHei"/>
              </a:rPr>
              <a:t>集成终端与 SSH 远程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6A6B8"/>
                </a:solidFill>
                <a:latin typeface="Microsoft YaHei"/>
              </a:rPr>
              <a:t>本地 PTY 终端，远程 SSH 开发与一键部署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5486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C6C7E"/>
                </a:solidFill>
                <a:latin typeface="Segoe UI"/>
              </a:rPr>
              <a:t>Claude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4415" cy="9525"/>
          </a:xfrm>
          <a:prstGeom prst="rect">
            <a:avLst/>
          </a:prstGeom>
          <a:solidFill>
            <a:srgbClr val="2C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05060"/>
                </a:solidFill>
                <a:latin typeface="Microsoft YaHei"/>
              </a:rPr>
              <a:t>Claude Space  ·  AI 驱动的项目开发工作台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05060"/>
                </a:solidFill>
                <a:latin typeface="Segoe UI"/>
              </a:rPr>
              <a:t>09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358384" cy="4023360"/>
          </a:xfrm>
          <a:prstGeom prst="roundRect">
            <a:avLst>
              <a:gd name="adj" fmla="val 4000"/>
            </a:avLst>
          </a:prstGeom>
          <a:solidFill>
            <a:srgbClr val="161620"/>
          </a:solidFill>
          <a:ln w="9525">
            <a:solidFill>
              <a:srgbClr val="34D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358384" cy="457200"/>
          </a:xfrm>
          <a:prstGeom prst="rect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53583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E0E14"/>
                </a:solidFill>
                <a:latin typeface="Microsoft YaHei"/>
              </a:rPr>
              <a:t>本地终端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480974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34D999"/>
                </a:solidFill>
                <a:latin typeface="Microsoft YaHei"/>
              </a:rPr>
              <a:t>▸  </a:t>
            </a:r>
            <a:r>
              <a:rPr sz="1250">
                <a:solidFill>
                  <a:srgbClr val="A6A6B8"/>
                </a:solidFill>
                <a:latin typeface="Microsoft YaHei"/>
              </a:rPr>
              <a:t>node-pty 驱动的真实 PTY 终端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34D999"/>
                </a:solidFill>
                <a:latin typeface="Microsoft YaHei"/>
              </a:rPr>
              <a:t>▸  </a:t>
            </a:r>
            <a:r>
              <a:rPr sz="1250">
                <a:solidFill>
                  <a:srgbClr val="A6A6B8"/>
                </a:solidFill>
                <a:latin typeface="Microsoft YaHei"/>
              </a:rPr>
              <a:t>xterm.js 5.x + WebGL 加速渲染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34D999"/>
                </a:solidFill>
                <a:latin typeface="Microsoft YaHei"/>
              </a:rPr>
              <a:t>▸  </a:t>
            </a:r>
            <a:r>
              <a:rPr sz="1250">
                <a:solidFill>
                  <a:srgbClr val="A6A6B8"/>
                </a:solidFill>
                <a:latin typeface="Microsoft YaHei"/>
              </a:rPr>
              <a:t>暗色/亮色双主题适配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34D999"/>
                </a:solidFill>
                <a:latin typeface="Microsoft YaHei"/>
              </a:rPr>
              <a:t>▸  </a:t>
            </a:r>
            <a:r>
              <a:rPr sz="1250">
                <a:solidFill>
                  <a:srgbClr val="A6A6B8"/>
                </a:solidFill>
                <a:latin typeface="Microsoft YaHei"/>
              </a:rPr>
              <a:t>Claude 会话 JSONL 自动同步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34D999"/>
                </a:solidFill>
                <a:latin typeface="Microsoft YaHei"/>
              </a:rPr>
              <a:t>▸  </a:t>
            </a:r>
            <a:r>
              <a:rPr sz="1250">
                <a:solidFill>
                  <a:srgbClr val="A6A6B8"/>
                </a:solidFill>
                <a:latin typeface="Microsoft YaHei"/>
              </a:rPr>
              <a:t>Web 链接可点击，自动适配尺寸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34D999"/>
                </a:solidFill>
                <a:latin typeface="Microsoft YaHei"/>
              </a:rPr>
              <a:t>▸  </a:t>
            </a:r>
            <a:r>
              <a:rPr sz="1250">
                <a:solidFill>
                  <a:srgbClr val="A6A6B8"/>
                </a:solidFill>
                <a:latin typeface="Microsoft YaHei"/>
              </a:rPr>
              <a:t>Shell 降级回退，保障可用性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783080"/>
            <a:ext cx="5358384" cy="4023360"/>
          </a:xfrm>
          <a:prstGeom prst="roundRect">
            <a:avLst>
              <a:gd name="adj" fmla="val 4000"/>
            </a:avLst>
          </a:prstGeom>
          <a:solidFill>
            <a:srgbClr val="161620"/>
          </a:solidFill>
          <a:ln w="9525">
            <a:solidFill>
              <a:srgbClr val="4E8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1783080"/>
            <a:ext cx="5358384" cy="457200"/>
          </a:xfrm>
          <a:prstGeom prst="rect">
            <a:avLst/>
          </a:prstGeom>
          <a:solidFill>
            <a:srgbClr val="4E8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1783080"/>
            <a:ext cx="53583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1F1F6"/>
                </a:solidFill>
                <a:latin typeface="Microsoft YaHei"/>
              </a:rPr>
              <a:t>SSH 远程开发</a:t>
            </a:r>
          </a:p>
        </p:txBody>
      </p:sp>
      <p:sp>
        <p:nvSpPr>
          <p:cNvPr id="16" name="Oval 15"/>
          <p:cNvSpPr/>
          <p:nvPr/>
        </p:nvSpPr>
        <p:spPr>
          <a:xfrm>
            <a:off x="6556248" y="2514600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244144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1F1F6"/>
                </a:solidFill>
                <a:latin typeface="Microsoft YaHei"/>
              </a:rPr>
              <a:t>远程终端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2441448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A6B8"/>
                </a:solidFill>
                <a:latin typeface="Microsoft YaHei"/>
              </a:rPr>
              <a:t>ssh2 shell，ITerminalProvider 抽象</a:t>
            </a:r>
          </a:p>
        </p:txBody>
      </p:sp>
      <p:sp>
        <p:nvSpPr>
          <p:cNvPr id="19" name="Oval 18"/>
          <p:cNvSpPr/>
          <p:nvPr/>
        </p:nvSpPr>
        <p:spPr>
          <a:xfrm>
            <a:off x="6556248" y="304495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29718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1F1F6"/>
                </a:solidFill>
                <a:latin typeface="Microsoft YaHei"/>
              </a:rPr>
              <a:t>远程文件浏览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971800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A6B8"/>
                </a:solidFill>
                <a:latin typeface="Microsoft YaHei"/>
              </a:rPr>
              <a:t>SFTP 递归目录树浏览</a:t>
            </a:r>
          </a:p>
        </p:txBody>
      </p:sp>
      <p:sp>
        <p:nvSpPr>
          <p:cNvPr id="22" name="Oval 21"/>
          <p:cNvSpPr/>
          <p:nvPr/>
        </p:nvSpPr>
        <p:spPr>
          <a:xfrm>
            <a:off x="6556248" y="357530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350215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1F1F6"/>
                </a:solidFill>
                <a:latin typeface="Microsoft YaHei"/>
              </a:rPr>
              <a:t>一键部署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3502152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A6B8"/>
                </a:solidFill>
                <a:latin typeface="Microsoft YaHei"/>
              </a:rPr>
              <a:t>SFTP 上传 + 预/后部署命令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4105656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40325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1F1F6"/>
                </a:solidFill>
                <a:latin typeface="Microsoft YaHei"/>
              </a:rPr>
              <a:t>连接管理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4032504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A6B8"/>
                </a:solidFill>
                <a:latin typeface="Microsoft YaHei"/>
              </a:rPr>
              <a:t>密码 / 密钥认证，连接池复用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46360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456285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1F1F6"/>
                </a:solidFill>
                <a:latin typeface="Microsoft YaHei"/>
              </a:rPr>
              <a:t>安全验证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4562856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A6B8"/>
                </a:solidFill>
                <a:latin typeface="Microsoft YaHei"/>
              </a:rPr>
              <a:t>TOFU 指纹首次信任校验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5166360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4848" y="509320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1F1F6"/>
                </a:solidFill>
                <a:latin typeface="Microsoft YaHei"/>
              </a:rPr>
              <a:t>远程 Git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5093208"/>
            <a:ext cx="2798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A6B8"/>
                </a:solidFill>
                <a:latin typeface="Microsoft YaHei"/>
              </a:rPr>
              <a:t>远程仓库操作面板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09728" cy="841248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1F6"/>
                </a:solidFill>
                <a:latin typeface="Microsoft YaHei"/>
              </a:rPr>
              <a:t>任务管理与审批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6A6B8"/>
                </a:solidFill>
                <a:latin typeface="Microsoft YaHei"/>
              </a:rPr>
              <a:t>看板追踪、实时监控、敏感操作审批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5486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C6C7E"/>
                </a:solidFill>
                <a:latin typeface="Segoe UI"/>
              </a:rPr>
              <a:t>Claude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4415" cy="9525"/>
          </a:xfrm>
          <a:prstGeom prst="rect">
            <a:avLst/>
          </a:prstGeom>
          <a:solidFill>
            <a:srgbClr val="2C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05060"/>
                </a:solidFill>
                <a:latin typeface="Microsoft YaHei"/>
              </a:rPr>
              <a:t>Claude Space  ·  AI 驱动的项目开发工作台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05060"/>
                </a:solidFill>
                <a:latin typeface="Segoe UI"/>
              </a:rPr>
              <a:t>10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593592" cy="2286000"/>
          </a:xfrm>
          <a:prstGeom prst="roundRect">
            <a:avLst>
              <a:gd name="adj" fmla="val 4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64008" cy="2286000"/>
          </a:xfrm>
          <a:prstGeom prst="rect">
            <a:avLst/>
          </a:prstGeom>
          <a:solidFill>
            <a:srgbClr val="6C6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3593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6C7E"/>
                </a:solidFill>
                <a:latin typeface="Microsoft YaHei"/>
              </a:rPr>
              <a:t>待办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9476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A6A6B8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50008"/>
            <a:ext cx="3227832" cy="566928"/>
          </a:xfrm>
          <a:prstGeom prst="roundRect">
            <a:avLst>
              <a:gd name="adj" fmla="val 12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2551176"/>
            <a:ext cx="164592" cy="164592"/>
          </a:xfrm>
          <a:prstGeom prst="ellipse">
            <a:avLst/>
          </a:prstGeom>
          <a:solidFill>
            <a:srgbClr val="6C6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496312"/>
            <a:ext cx="2862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1F1F6"/>
                </a:solidFill>
                <a:latin typeface="Microsoft YaHei"/>
              </a:rPr>
              <a:t>分析需求结构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08376"/>
            <a:ext cx="3227832" cy="566928"/>
          </a:xfrm>
          <a:prstGeom prst="roundRect">
            <a:avLst>
              <a:gd name="adj" fmla="val 12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3209544"/>
            <a:ext cx="164592" cy="164592"/>
          </a:xfrm>
          <a:prstGeom prst="ellipse">
            <a:avLst/>
          </a:prstGeom>
          <a:solidFill>
            <a:srgbClr val="6C6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154680"/>
            <a:ext cx="2862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1F1F6"/>
                </a:solidFill>
                <a:latin typeface="Microsoft YaHei"/>
              </a:rPr>
              <a:t>设计数据模型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783080"/>
            <a:ext cx="3593592" cy="2286000"/>
          </a:xfrm>
          <a:prstGeom prst="roundRect">
            <a:avLst>
              <a:gd name="adj" fmla="val 4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783080"/>
            <a:ext cx="64008" cy="2286000"/>
          </a:xfrm>
          <a:prstGeom prst="rect">
            <a:avLst/>
          </a:prstGeom>
          <a:solidFill>
            <a:srgbClr val="F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1947672"/>
            <a:ext cx="3593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A34D"/>
                </a:solidFill>
                <a:latin typeface="Microsoft YaHei"/>
              </a:rPr>
              <a:t>进行中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2" y="19476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A6A6B8"/>
                </a:solidFill>
                <a:latin typeface="Segoe UI"/>
              </a:rP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2350008"/>
            <a:ext cx="3227832" cy="566928"/>
          </a:xfrm>
          <a:prstGeom prst="roundRect">
            <a:avLst>
              <a:gd name="adj" fmla="val 12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90288" y="2551176"/>
            <a:ext cx="164592" cy="164592"/>
          </a:xfrm>
          <a:prstGeom prst="ellipse">
            <a:avLst/>
          </a:prstGeom>
          <a:solidFill>
            <a:srgbClr val="F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496312"/>
            <a:ext cx="2862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1F1F6"/>
                </a:solidFill>
                <a:latin typeface="Microsoft YaHei"/>
              </a:rPr>
              <a:t>编写核心模块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008376"/>
            <a:ext cx="3227832" cy="566928"/>
          </a:xfrm>
          <a:prstGeom prst="roundRect">
            <a:avLst>
              <a:gd name="adj" fmla="val 12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90288" y="3209544"/>
            <a:ext cx="164592" cy="164592"/>
          </a:xfrm>
          <a:prstGeom prst="ellipse">
            <a:avLst/>
          </a:prstGeom>
          <a:solidFill>
            <a:srgbClr val="F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3154680"/>
            <a:ext cx="2862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1F1F6"/>
                </a:solidFill>
                <a:latin typeface="Microsoft YaHei"/>
              </a:rPr>
              <a:t>集成终端调试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783080"/>
            <a:ext cx="3593592" cy="2286000"/>
          </a:xfrm>
          <a:prstGeom prst="roundRect">
            <a:avLst>
              <a:gd name="adj" fmla="val 4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1783080"/>
            <a:ext cx="64008" cy="2286000"/>
          </a:xfrm>
          <a:prstGeom prst="rect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1947672"/>
            <a:ext cx="3593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4D999"/>
                </a:solidFill>
                <a:latin typeface="Microsoft YaHei"/>
              </a:rPr>
              <a:t>已完成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19476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A6A6B8"/>
                </a:solidFill>
                <a:latin typeface="Segoe UI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350008"/>
            <a:ext cx="3227832" cy="566928"/>
          </a:xfrm>
          <a:prstGeom prst="roundRect">
            <a:avLst>
              <a:gd name="adj" fmla="val 12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39328" y="2551176"/>
            <a:ext cx="164592" cy="164592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2496312"/>
            <a:ext cx="2862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1F1F6"/>
                </a:solidFill>
                <a:latin typeface="Microsoft YaHei"/>
              </a:rPr>
              <a:t>项目扫描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3008376"/>
            <a:ext cx="3227832" cy="566928"/>
          </a:xfrm>
          <a:prstGeom prst="roundRect">
            <a:avLst>
              <a:gd name="adj" fmla="val 12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39328" y="3209544"/>
            <a:ext cx="164592" cy="164592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3154680"/>
            <a:ext cx="2862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1F1F6"/>
                </a:solidFill>
                <a:latin typeface="Microsoft YaHei"/>
              </a:rPr>
              <a:t>多模型接入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297680"/>
            <a:ext cx="11091672" cy="1691640"/>
          </a:xfrm>
          <a:prstGeom prst="roundRect">
            <a:avLst>
              <a:gd name="adj" fmla="val 3000"/>
            </a:avLst>
          </a:prstGeom>
          <a:solidFill>
            <a:srgbClr val="1C1C28"/>
          </a:solidFill>
          <a:ln w="9525">
            <a:solidFill>
              <a:srgbClr val="F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4622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46EB4"/>
                </a:solidFill>
                <a:latin typeface="Microsoft YaHei"/>
              </a:rPr>
              <a:t>敏感操作审批流程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4983480"/>
            <a:ext cx="1874519" cy="640080"/>
          </a:xfrm>
          <a:prstGeom prst="roundRect">
            <a:avLst>
              <a:gd name="adj" fmla="val 15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983480"/>
            <a:ext cx="1874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1F1F6"/>
                </a:solidFill>
                <a:latin typeface="Microsoft YaHei"/>
              </a:rPr>
              <a:t>AI 调用工具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199" y="4983480"/>
            <a:ext cx="24688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C6C7E"/>
                </a:solidFill>
                <a:latin typeface="Microsoft YaHe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90088" y="4983480"/>
            <a:ext cx="1874519" cy="640080"/>
          </a:xfrm>
          <a:prstGeom prst="roundRect">
            <a:avLst>
              <a:gd name="adj" fmla="val 15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0088" y="4983480"/>
            <a:ext cx="1874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1F1F6"/>
                </a:solidFill>
                <a:latin typeface="Microsoft YaHei"/>
              </a:rPr>
              <a:t>弹出审批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4607" y="4983480"/>
            <a:ext cx="24688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C6C7E"/>
                </a:solidFill>
                <a:latin typeface="Microsoft YaHei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11496" y="4983480"/>
            <a:ext cx="1874519" cy="640080"/>
          </a:xfrm>
          <a:prstGeom prst="roundRect">
            <a:avLst>
              <a:gd name="adj" fmla="val 15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11496" y="4983480"/>
            <a:ext cx="1874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1F1F6"/>
                </a:solidFill>
                <a:latin typeface="Microsoft YaHei"/>
              </a:rPr>
              <a:t>用户决策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86015" y="4983480"/>
            <a:ext cx="24688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C6C7E"/>
                </a:solidFill>
                <a:latin typeface="Microsoft YaHei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32904" y="4983480"/>
            <a:ext cx="1874519" cy="640080"/>
          </a:xfrm>
          <a:prstGeom prst="roundRect">
            <a:avLst>
              <a:gd name="adj" fmla="val 15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32904" y="4983480"/>
            <a:ext cx="1874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1F1F6"/>
                </a:solidFill>
                <a:latin typeface="Microsoft YaHei"/>
              </a:rPr>
              <a:t>执行/拒绝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07423" y="4983480"/>
            <a:ext cx="24688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C6C7E"/>
                </a:solidFill>
                <a:latin typeface="Microsoft YaHei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54312" y="4983480"/>
            <a:ext cx="1874519" cy="640080"/>
          </a:xfrm>
          <a:prstGeom prst="roundRect">
            <a:avLst>
              <a:gd name="adj" fmla="val 15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54312" y="4983480"/>
            <a:ext cx="1874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1F1F6"/>
                </a:solidFill>
                <a:latin typeface="Microsoft YaHei"/>
              </a:rPr>
              <a:t>日志持久化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09728" cy="841248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1F6"/>
                </a:solidFill>
                <a:latin typeface="Microsoft YaHei"/>
              </a:rPr>
              <a:t>记忆与知识管理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6A6B8"/>
                </a:solidFill>
                <a:latin typeface="Microsoft YaHei"/>
              </a:rPr>
              <a:t>项目隔离记忆，沉淀团队知识资产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5486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C6C7E"/>
                </a:solidFill>
                <a:latin typeface="Segoe UI"/>
              </a:rPr>
              <a:t>Claude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4415" cy="9525"/>
          </a:xfrm>
          <a:prstGeom prst="rect">
            <a:avLst/>
          </a:prstGeom>
          <a:solidFill>
            <a:srgbClr val="2C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05060"/>
                </a:solidFill>
                <a:latin typeface="Microsoft YaHei"/>
              </a:rPr>
              <a:t>Claude Space  ·  AI 驱动的项目开发工作台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05060"/>
                </a:solidFill>
                <a:latin typeface="Segoe UI"/>
              </a:rPr>
              <a:t>11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2651760" cy="402336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11096"/>
            <a:ext cx="64008" cy="3767328"/>
          </a:xfrm>
          <a:prstGeom prst="roundRect">
            <a:avLst>
              <a:gd name="adj" fmla="val 50000"/>
            </a:avLst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659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项目记忆系统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23160"/>
            <a:ext cx="2240280" cy="32004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按项目隔离存储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自动记忆会话与提交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详情查看与编辑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783080"/>
            <a:ext cx="2651760" cy="402336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46704" y="1911096"/>
            <a:ext cx="64008" cy="3767328"/>
          </a:xfrm>
          <a:prstGeom prst="roundRect">
            <a:avLst>
              <a:gd name="adj" fmla="val 50000"/>
            </a:avLst>
          </a:prstGeom>
          <a:solidFill>
            <a:srgbClr val="4E8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9659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知识库管理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423160"/>
            <a:ext cx="2240280" cy="32004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完整 CRUD 操作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分类组织知识条目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会话提取为知识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783080"/>
            <a:ext cx="2651760" cy="402336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1911096"/>
            <a:ext cx="64008" cy="37673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规则管理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23160"/>
            <a:ext cx="2240280" cy="32004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CLAUDE.md 规则维护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项目约定可视化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锁定关键规则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1783080"/>
            <a:ext cx="2651760" cy="402336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42832" y="1911096"/>
            <a:ext cx="64008" cy="3767328"/>
          </a:xfrm>
          <a:prstGeom prst="roundRect">
            <a:avLst>
              <a:gd name="adj" fmla="val 50000"/>
            </a:avLst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8864" y="196596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规则模板库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2423160"/>
            <a:ext cx="2240280" cy="32004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7 大分类模板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代码审查 / 安全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Microsoft YaHei"/>
              </a:rPr>
              <a:t>▸  </a:t>
            </a:r>
            <a:r>
              <a:rPr sz="1150">
                <a:solidFill>
                  <a:srgbClr val="A6A6B8"/>
                </a:solidFill>
                <a:latin typeface="Microsoft YaHei"/>
              </a:rPr>
              <a:t>约定 / API / 测试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09728" cy="841248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1F6"/>
                </a:solidFill>
                <a:latin typeface="Microsoft YaHei"/>
              </a:rPr>
              <a:t>安全架构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6A6B8"/>
                </a:solidFill>
                <a:latin typeface="Microsoft YaHei"/>
              </a:rPr>
              <a:t>零信任设计，凭证不离开主进程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5486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C6C7E"/>
                </a:solidFill>
                <a:latin typeface="Segoe UI"/>
              </a:rPr>
              <a:t>Claude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4415" cy="9525"/>
          </a:xfrm>
          <a:prstGeom prst="rect">
            <a:avLst/>
          </a:prstGeom>
          <a:solidFill>
            <a:srgbClr val="2C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05060"/>
                </a:solidFill>
                <a:latin typeface="Microsoft YaHei"/>
              </a:rPr>
              <a:t>Claude Space  ·  AI 驱动的项目开发工作台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05060"/>
                </a:solidFill>
                <a:latin typeface="Segoe UI"/>
              </a:rPr>
              <a:t>12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593592" cy="192024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11096"/>
            <a:ext cx="64008" cy="1664208"/>
          </a:xfrm>
          <a:prstGeom prst="roundRect">
            <a:avLst>
              <a:gd name="adj" fmla="val 50000"/>
            </a:avLst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65960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零信任渲染器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23160"/>
            <a:ext cx="3182112" cy="1097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6A6B8"/>
                </a:solidFill>
                <a:latin typeface="Microsoft YaHei"/>
              </a:rPr>
              <a:t>渲染进程视为不可信，所有特权操作经主进程校验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783080"/>
            <a:ext cx="3593592" cy="192024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911096"/>
            <a:ext cx="64008" cy="1664208"/>
          </a:xfrm>
          <a:prstGeom prst="roundRect">
            <a:avLst>
              <a:gd name="adj" fmla="val 50000"/>
            </a:avLst>
          </a:prstGeom>
          <a:solidFill>
            <a:srgbClr val="4E8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965960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contextBridge 隔离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423160"/>
            <a:ext cx="3182112" cy="1097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6A6B8"/>
                </a:solidFill>
                <a:latin typeface="Microsoft YaHei"/>
              </a:rPr>
              <a:t>160+ 方法经安全桥暴露，禁用 Node 直接访问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83080"/>
            <a:ext cx="3593592" cy="192024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911096"/>
            <a:ext cx="64008" cy="16642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965960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凭证驻留主进程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423160"/>
            <a:ext cx="3182112" cy="1097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6A6B8"/>
                </a:solidFill>
                <a:latin typeface="Microsoft YaHei"/>
              </a:rPr>
              <a:t>API Key / SSH 密钥仅存主进程，脱敏后传递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3593592" cy="192024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6"/>
            <a:ext cx="64008" cy="1664208"/>
          </a:xfrm>
          <a:prstGeom prst="roundRect">
            <a:avLst>
              <a:gd name="adj" fmla="val 50000"/>
            </a:avLst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069080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TOFU 指纹验证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526280"/>
            <a:ext cx="3182112" cy="1097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6A6B8"/>
                </a:solidFill>
                <a:latin typeface="Microsoft YaHei"/>
              </a:rPr>
              <a:t>SSH 首次信任校验，防止中间人攻击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886200"/>
            <a:ext cx="3593592" cy="192024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97680" y="4014216"/>
            <a:ext cx="64008" cy="1664208"/>
          </a:xfrm>
          <a:prstGeom prst="roundRect">
            <a:avLst>
              <a:gd name="adj" fmla="val 50000"/>
            </a:avLst>
          </a:prstGeom>
          <a:solidFill>
            <a:srgbClr val="F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069080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部署排除机制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526280"/>
            <a:ext cx="3182112" cy="1097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6A6B8"/>
                </a:solidFill>
                <a:latin typeface="Microsoft YaHei"/>
              </a:rPr>
              <a:t>DEFAULT_DEPLOY_EXCLUDES 过滤敏感文件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886200"/>
            <a:ext cx="3593592" cy="192024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0" y="4014216"/>
            <a:ext cx="64008" cy="1664208"/>
          </a:xfrm>
          <a:prstGeom prst="roundRect">
            <a:avLst>
              <a:gd name="adj" fmla="val 50000"/>
            </a:avLst>
          </a:prstGeom>
          <a:solidFill>
            <a:srgbClr val="F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4069080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1F6"/>
                </a:solidFill>
                <a:latin typeface="Microsoft YaHei"/>
              </a:rPr>
              <a:t>敏感操作审批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4526280"/>
            <a:ext cx="3182112" cy="1097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6A6B8"/>
                </a:solidFill>
                <a:latin typeface="Microsoft YaHei"/>
              </a:rPr>
              <a:t>Bash/Write/Edit 等需用户确认，全流程留痕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15000"/>
            </a:avLst>
          </a:prstGeom>
          <a:solidFill>
            <a:srgbClr val="232332"/>
          </a:solidFill>
          <a:ln w="9525">
            <a:solidFill>
              <a:srgbClr val="34D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34D999"/>
                </a:solidFill>
                <a:latin typeface="Microsoft YaHei"/>
              </a:rPr>
              <a:t>✓  安全原则：最小权限 · 主进程兜底 · 凭证脱敏 · 操作可审计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09728" cy="841248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1F6"/>
                </a:solidFill>
                <a:latin typeface="Microsoft YaHei"/>
              </a:rPr>
              <a:t>版本路线图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6A6B8"/>
                </a:solidFill>
                <a:latin typeface="Microsoft YaHei"/>
              </a:rPr>
              <a:t>从单机工作站，迈向数字公司操作系统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5486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C6C7E"/>
                </a:solidFill>
                <a:latin typeface="Segoe UI"/>
              </a:rPr>
              <a:t>Claude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4415" cy="9525"/>
          </a:xfrm>
          <a:prstGeom prst="rect">
            <a:avLst/>
          </a:prstGeom>
          <a:solidFill>
            <a:srgbClr val="2C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05060"/>
                </a:solidFill>
                <a:latin typeface="Microsoft YaHei"/>
              </a:rPr>
              <a:t>Claude Space  ·  AI 驱动的项目开发工作台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05060"/>
                </a:solidFill>
                <a:latin typeface="Segoe UI"/>
              </a:rPr>
              <a:t>13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232332"/>
          </a:solidFill>
          <a:ln w="9525">
            <a:solidFill>
              <a:srgbClr val="34D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093976"/>
            <a:ext cx="182880" cy="182880"/>
          </a:xfrm>
          <a:prstGeom prst="ellipse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391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4D999"/>
                </a:solidFill>
                <a:latin typeface="Microsoft Ya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9280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4D999"/>
                </a:solidFill>
                <a:latin typeface="Segoe UI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671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C6C7E"/>
                </a:solidFill>
                <a:latin typeface="Segoe UI"/>
              </a:rPr>
              <a:t>v1.0 – 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92938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1F1F6"/>
                </a:solidFill>
                <a:latin typeface="Microsoft YaHei"/>
              </a:rPr>
              <a:t>基础工作站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22199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A6B8"/>
                </a:solidFill>
                <a:latin typeface="Microsoft YaHei"/>
              </a:rPr>
              <a:t>已完成全部核心功能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0391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039112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E0E14"/>
                </a:solidFill>
                <a:latin typeface="Microsoft YaHei"/>
              </a:rPr>
              <a:t>已完成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42616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2953512"/>
            <a:ext cx="182880" cy="182880"/>
          </a:xfrm>
          <a:prstGeom prst="ellipse">
            <a:avLst/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8986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7C6CF0"/>
                </a:solidFill>
                <a:latin typeface="Microsoft YaHei"/>
              </a:rPr>
              <a:t>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75234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6CF0"/>
                </a:solidFill>
                <a:latin typeface="Segoe UI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026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C6C7E"/>
                </a:solidFill>
                <a:latin typeface="Segoe UI"/>
              </a:rPr>
              <a:t>v1.2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7889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1F1F6"/>
                </a:solidFill>
                <a:latin typeface="Microsoft YaHei"/>
              </a:rPr>
              <a:t>Claw 自主引擎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081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A6B8"/>
                </a:solidFill>
                <a:latin typeface="Microsoft YaHei"/>
              </a:rPr>
              <a:t>事件驱动开发循环 · 需求解析 · CI/CD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02152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3813048"/>
            <a:ext cx="182880" cy="182880"/>
          </a:xfrm>
          <a:prstGeom prst="ellipse">
            <a:avLst/>
          </a:prstGeom>
          <a:solidFill>
            <a:srgbClr val="4E8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75818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4E8DF3"/>
                </a:solidFill>
                <a:latin typeface="Microsoft YaHei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6118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E8DF3"/>
                </a:solidFill>
                <a:latin typeface="Segoe UI"/>
              </a:rPr>
              <a:t>Phase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886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C6C7E"/>
                </a:solidFill>
                <a:latin typeface="Segoe UI"/>
              </a:rPr>
              <a:t>v1.3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64845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1F1F6"/>
                </a:solidFill>
                <a:latin typeface="Microsoft YaHei"/>
              </a:rPr>
              <a:t>云端多方协作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39410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A6B8"/>
                </a:solidFill>
                <a:latin typeface="Microsoft YaHei"/>
              </a:rPr>
              <a:t>GitHub/GitLab 连接 · 边缘-云端协作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361688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" y="4672584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617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2D3EE"/>
                </a:solidFill>
                <a:latin typeface="Microsoft YaHei"/>
              </a:rPr>
              <a:t>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47141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Segoe UI"/>
              </a:rPr>
              <a:t>Phase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7457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C6C7E"/>
                </a:solidFill>
                <a:latin typeface="Segoe UI"/>
              </a:rPr>
              <a:t>v1.4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45079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1F1F6"/>
                </a:solidFill>
                <a:latin typeface="Microsoft YaHei"/>
              </a:rPr>
              <a:t>多用户协作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48006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A6B8"/>
                </a:solidFill>
                <a:latin typeface="Microsoft YaHei"/>
              </a:rPr>
              <a:t>账号 · 实时同步 · 团队消息 · 权限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221224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161620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7240" y="5532120"/>
            <a:ext cx="182880" cy="182880"/>
          </a:xfrm>
          <a:prstGeom prst="ellipse">
            <a:avLst/>
          </a:prstGeom>
          <a:solidFill>
            <a:srgbClr val="F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47725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A34D"/>
                </a:solidFill>
                <a:latin typeface="Microsoft YaHei"/>
              </a:rPr>
              <a:t>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5330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A34D"/>
                </a:solidFill>
                <a:latin typeface="Segoe UI"/>
              </a:rPr>
              <a:t>Phase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6052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C6C7E"/>
                </a:solidFill>
                <a:latin typeface="Segoe UI"/>
              </a:rPr>
              <a:t>v1.5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536752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1F1F6"/>
                </a:solidFill>
                <a:latin typeface="Microsoft YaHei"/>
              </a:rPr>
              <a:t>跨客户端消息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566013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A6B8"/>
                </a:solidFill>
                <a:latin typeface="Microsoft YaHei"/>
              </a:rPr>
              <a:t>WebSocket/WebRTC · Web 客户端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1026"/>
              </a:gs>
              <a:gs pos="100000">
                <a:srgbClr val="080C16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2D3EE"/>
                </a:solidFill>
                <a:latin typeface="Microsoft YaHei"/>
              </a:rPr>
              <a:t>终极愿景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59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1F1F6"/>
                </a:solidFill>
                <a:latin typeface="Microsoft YaHei"/>
              </a:rPr>
              <a:t>个人 / 团队 数字公司 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2240280"/>
            <a:ext cx="1828800" cy="38100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5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A6A6B8"/>
                </a:solidFill>
                <a:latin typeface="Microsoft YaHei"/>
              </a:rPr>
              <a:t>24×7 AI 数字员工 · 自进化多模型开发中心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2651760" cy="219456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2651760" cy="73152"/>
          </a:xfrm>
          <a:prstGeom prst="rect">
            <a:avLst/>
          </a:prstGeom>
          <a:solidFill>
            <a:srgbClr val="7C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1F1F6"/>
                </a:solidFill>
                <a:latin typeface="Microsoft YaHei"/>
              </a:rPr>
              <a:t>多智能体平台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A6A6B8"/>
                </a:solidFill>
                <a:latin typeface="Microsoft YaHei"/>
              </a:rPr>
              <a:t>Claude Space + OpenClaw + Hermes 协同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3383280"/>
            <a:ext cx="2651760" cy="219456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6704" y="3383280"/>
            <a:ext cx="2651760" cy="73152"/>
          </a:xfrm>
          <a:prstGeom prst="rect">
            <a:avLst/>
          </a:prstGeom>
          <a:solidFill>
            <a:srgbClr val="4E8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6704" y="37947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1F1F6"/>
                </a:solidFill>
                <a:latin typeface="Microsoft YaHei"/>
              </a:rPr>
              <a:t>共享记忆层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434340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A6A6B8"/>
                </a:solidFill>
                <a:latin typeface="Microsoft YaHei"/>
              </a:rPr>
              <a:t>向量数据库 + 知识图谱 + 全文检索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3383280"/>
            <a:ext cx="2651760" cy="219456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3383280"/>
            <a:ext cx="265176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37947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1F1F6"/>
                </a:solidFill>
                <a:latin typeface="Microsoft YaHei"/>
              </a:rPr>
              <a:t>自进化能力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434340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A6A6B8"/>
                </a:solidFill>
                <a:latin typeface="Microsoft YaHei"/>
              </a:rPr>
              <a:t>GEPA 技能蒸馏，自动沉淀经验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3383280"/>
            <a:ext cx="2651760" cy="219456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42832" y="3383280"/>
            <a:ext cx="2651760" cy="73152"/>
          </a:xfrm>
          <a:prstGeom prst="rect">
            <a:avLst/>
          </a:prstGeom>
          <a:solidFill>
            <a:srgbClr val="34D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37947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1F1F6"/>
                </a:solidFill>
                <a:latin typeface="Microsoft YaHei"/>
              </a:rPr>
              <a:t>跨端协作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434340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A6A6B8"/>
                </a:solidFill>
                <a:latin typeface="Microsoft YaHei"/>
              </a:rPr>
              <a:t>桌面 / Web / IM 机器人多端互通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22D3EE"/>
                </a:solidFill>
                <a:latin typeface="Microsoft YaHei"/>
              </a:rPr>
              <a:t>让 AI 从「助手」进化为「同事」与「公司」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122A"/>
              </a:gs>
              <a:gs pos="100000">
                <a:srgbClr val="080A14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1371600"/>
            <a:ext cx="1280160" cy="1280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880360"/>
            <a:ext cx="107259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1F1F6"/>
                </a:solidFill>
                <a:latin typeface="Microsoft YaHei"/>
              </a:rPr>
              <a:t>感谢关注 Claude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886200"/>
            <a:ext cx="1828800" cy="38100"/>
          </a:xfrm>
          <a:prstGeom prst="rect">
            <a:avLst/>
          </a:prstGeom>
          <a:gradFill rotWithShape="1">
            <a:gsLst>
              <a:gs pos="0">
                <a:srgbClr val="7C6CF0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725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A6A6B8"/>
                </a:solidFill>
                <a:latin typeface="Microsoft YaHei"/>
              </a:rPr>
              <a:t>AI 驱动的项目开发工作台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5029200"/>
            <a:ext cx="2834640" cy="411480"/>
          </a:xfrm>
          <a:prstGeom prst="roundRect">
            <a:avLst>
              <a:gd name="adj" fmla="val 5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5029200"/>
            <a:ext cx="2834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A6A6B8"/>
                </a:solidFill>
                <a:latin typeface="Segoe UI"/>
              </a:rPr>
              <a:t>MIT License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5029200"/>
            <a:ext cx="3749040" cy="411480"/>
          </a:xfrm>
          <a:prstGeom prst="roundRect">
            <a:avLst>
              <a:gd name="adj" fmla="val 5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5029200"/>
            <a:ext cx="3749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A6A6B8"/>
                </a:solidFill>
                <a:latin typeface="Segoe UI"/>
              </a:rPr>
              <a:t>Electron + React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50292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5029200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A6A6B8"/>
                </a:solidFill>
                <a:latin typeface="Segoe UI"/>
              </a:rPr>
              <a:t>开源项目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80" y="5029200"/>
            <a:ext cx="1920240" cy="411480"/>
          </a:xfrm>
          <a:prstGeom prst="roundRect">
            <a:avLst>
              <a:gd name="adj" fmla="val 50000"/>
            </a:avLst>
          </a:prstGeom>
          <a:solidFill>
            <a:srgbClr val="1C1C28"/>
          </a:solidFill>
          <a:ln w="9525">
            <a:solidFill>
              <a:srgbClr val="2C2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0" y="5029200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A6A6B8"/>
                </a:solidFill>
                <a:latin typeface="Segoe UI"/>
              </a:rPr>
              <a:t>v1.1.7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6C6C7E"/>
                </a:solidFill>
                <a:latin typeface="Microsoft YaHei"/>
              </a:rPr>
              <a:t>多模型  ·  多智能体  ·  多工作空间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